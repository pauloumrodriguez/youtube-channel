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antason Bold" charset="1" panose="00000000000000000000"/>
      <p:regular r:id="rId20"/>
    </p:embeddedFont>
    <p:embeddedFont>
      <p:font typeface="Cloud Bold" charset="1" panose="02000000000000000000"/>
      <p:regular r:id="rId21"/>
    </p:embeddedFont>
    <p:embeddedFont>
      <p:font typeface="Cloud" charset="1" panose="02000000000000000000"/>
      <p:regular r:id="rId22"/>
    </p:embeddedFont>
    <p:embeddedFont>
      <p:font typeface="Anantason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84802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964913" y="-40500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7188" y="703750"/>
            <a:ext cx="1301849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SQL COURSE FOR BEGINNERS - PART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861" y="1742609"/>
            <a:ext cx="8025884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From Database Fundamentals to SQL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Beginner-Friendly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PostgreSQL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Relational Databases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SQL Queries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28745" y="1742609"/>
            <a:ext cx="9256395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Wha</a:t>
            </a: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t You’ll Learn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 Fundamentals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Relational vs. Non-Relational Databases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DBMS &amp; RDBMS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PostgreSQL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Databases &amp; Tables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CRUD Operations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SQL Queries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Table Relationships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Database Schemas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2854231"/>
            <a:ext cx="13018493" cy="434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WHAT IS A DATABASE?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71393" y="739641"/>
            <a:ext cx="1000929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WHAT IS A DATABASE (DB)?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95000" y="1880369"/>
            <a:ext cx="7017517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Definition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Any organized collection of related information.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Everyday Examples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Smartphone contact list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WhatsApp chat history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To-do list on your phone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Credit card statement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46089" y="1880369"/>
            <a:ext cx="7113211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Storage Methods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Physical (notebook, paper)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Mental (memory)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Digital (computer files, cloud storage)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2272" y="266953"/>
            <a:ext cx="1253384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WHY WE NEED DIGITAL DATABASES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38205" y="1417206"/>
            <a:ext cx="9382205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High-Volume Systems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Examples: Digital Bank/Fintech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Stor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es millions of user accounts, balances, and transactions.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Requires 24/7 uptime and instantane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ous data access.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Critical data: errors lead to massive financial loss.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High Security: Mandatory protection for sensitive data (tax IDs, p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asswords, encryption keys).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19744" y="1417206"/>
            <a:ext cx="9036783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Personal Notes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Examples: Notepad App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tores 10 to 50 simple notes.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Casual, local access only.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Convenient, but non-critical data.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Low or no security needed.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8996" y="1417206"/>
            <a:ext cx="426601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03551" y="6842057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4375" y="952500"/>
            <a:ext cx="16026672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WHAT IS A DATABASE MANAGEMENT SYSTEM (DBMS)?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5044435" y="803315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5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5" y="0"/>
                </a:lnTo>
                <a:lnTo>
                  <a:pt x="5987225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1652" y="2667635"/>
            <a:ext cx="17606396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DBMS Definition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Specialized software designed to create, manage, and secure databases.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Core Responsibilities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Se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curity &amp; Access Control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Manages user permissions for reading and editing data.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Backups &amp; Recovery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Prevents data loss during system failures.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Concurrency Control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Allows multiple users to interact with data simultaneously without conflict.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Interface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Connects backend software (Python, Java, Node.js) to the database.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1738" y="762662"/>
            <a:ext cx="1571566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HOW APPLICATIONS INTERACT WITH A DBMS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07124" y="3175080"/>
            <a:ext cx="2286000" cy="857250"/>
            <a:chOff x="0" y="0"/>
            <a:chExt cx="1480428" cy="555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0428" cy="555160"/>
            </a:xfrm>
            <a:custGeom>
              <a:avLst/>
              <a:gdLst/>
              <a:ahLst/>
              <a:cxnLst/>
              <a:rect r="r" b="b" t="t" l="l"/>
              <a:pathLst>
                <a:path h="555160" w="1480428">
                  <a:moveTo>
                    <a:pt x="1480428" y="277580"/>
                  </a:moveTo>
                  <a:lnTo>
                    <a:pt x="1074028" y="0"/>
                  </a:lnTo>
                  <a:lnTo>
                    <a:pt x="1074028" y="203200"/>
                  </a:lnTo>
                  <a:lnTo>
                    <a:pt x="0" y="203200"/>
                  </a:lnTo>
                  <a:lnTo>
                    <a:pt x="0" y="351960"/>
                  </a:lnTo>
                  <a:lnTo>
                    <a:pt x="1074028" y="351960"/>
                  </a:lnTo>
                  <a:lnTo>
                    <a:pt x="1074028" y="555160"/>
                  </a:lnTo>
                  <a:lnTo>
                    <a:pt x="1480428" y="277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1378828" cy="18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07124" y="4460955"/>
            <a:ext cx="2286000" cy="857250"/>
            <a:chOff x="0" y="0"/>
            <a:chExt cx="1155500" cy="433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5500" cy="433312"/>
            </a:xfrm>
            <a:custGeom>
              <a:avLst/>
              <a:gdLst/>
              <a:ahLst/>
              <a:cxnLst/>
              <a:rect r="r" b="b" t="t" l="l"/>
              <a:pathLst>
                <a:path h="433312" w="1155500">
                  <a:moveTo>
                    <a:pt x="239386" y="165769"/>
                  </a:moveTo>
                  <a:lnTo>
                    <a:pt x="1155500" y="165769"/>
                  </a:lnTo>
                  <a:lnTo>
                    <a:pt x="1155500" y="267524"/>
                  </a:lnTo>
                  <a:lnTo>
                    <a:pt x="239373" y="267524"/>
                  </a:lnTo>
                  <a:lnTo>
                    <a:pt x="302255" y="433312"/>
                  </a:lnTo>
                  <a:lnTo>
                    <a:pt x="0" y="216656"/>
                  </a:lnTo>
                  <a:lnTo>
                    <a:pt x="302255" y="0"/>
                  </a:lnTo>
                  <a:lnTo>
                    <a:pt x="239386" y="16576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0650" y="127000"/>
              <a:ext cx="1034850" cy="14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22001" y="2535442"/>
            <a:ext cx="3445514" cy="3983253"/>
          </a:xfrm>
          <a:custGeom>
            <a:avLst/>
            <a:gdLst/>
            <a:ahLst/>
            <a:cxnLst/>
            <a:rect r="r" b="b" t="t" l="l"/>
            <a:pathLst>
              <a:path h="3983253" w="3445514">
                <a:moveTo>
                  <a:pt x="0" y="0"/>
                </a:moveTo>
                <a:lnTo>
                  <a:pt x="3445513" y="0"/>
                </a:lnTo>
                <a:lnTo>
                  <a:pt x="3445513" y="3983253"/>
                </a:lnTo>
                <a:lnTo>
                  <a:pt x="0" y="3983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61567" y="2125372"/>
            <a:ext cx="3385930" cy="1777613"/>
          </a:xfrm>
          <a:custGeom>
            <a:avLst/>
            <a:gdLst/>
            <a:ahLst/>
            <a:cxnLst/>
            <a:rect r="r" b="b" t="t" l="l"/>
            <a:pathLst>
              <a:path h="1777613" w="3385930">
                <a:moveTo>
                  <a:pt x="0" y="0"/>
                </a:moveTo>
                <a:lnTo>
                  <a:pt x="3385931" y="0"/>
                </a:lnTo>
                <a:lnTo>
                  <a:pt x="3385931" y="1777613"/>
                </a:lnTo>
                <a:lnTo>
                  <a:pt x="0" y="1777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90677" y="4380621"/>
            <a:ext cx="3385930" cy="440171"/>
          </a:xfrm>
          <a:custGeom>
            <a:avLst/>
            <a:gdLst/>
            <a:ahLst/>
            <a:cxnLst/>
            <a:rect r="r" b="b" t="t" l="l"/>
            <a:pathLst>
              <a:path h="440171" w="3385930">
                <a:moveTo>
                  <a:pt x="0" y="0"/>
                </a:moveTo>
                <a:lnTo>
                  <a:pt x="3385930" y="0"/>
                </a:lnTo>
                <a:lnTo>
                  <a:pt x="3385930" y="440171"/>
                </a:lnTo>
                <a:lnTo>
                  <a:pt x="0" y="4401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019787" y="5318205"/>
            <a:ext cx="3327711" cy="499157"/>
          </a:xfrm>
          <a:custGeom>
            <a:avLst/>
            <a:gdLst/>
            <a:ahLst/>
            <a:cxnLst/>
            <a:rect r="r" b="b" t="t" l="l"/>
            <a:pathLst>
              <a:path h="499157" w="3327711">
                <a:moveTo>
                  <a:pt x="0" y="0"/>
                </a:moveTo>
                <a:lnTo>
                  <a:pt x="3327711" y="0"/>
                </a:lnTo>
                <a:lnTo>
                  <a:pt x="3327711" y="499156"/>
                </a:lnTo>
                <a:lnTo>
                  <a:pt x="0" y="4991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66570" y="2535442"/>
            <a:ext cx="4120741" cy="3914704"/>
          </a:xfrm>
          <a:custGeom>
            <a:avLst/>
            <a:gdLst/>
            <a:ahLst/>
            <a:cxnLst/>
            <a:rect r="r" b="b" t="t" l="l"/>
            <a:pathLst>
              <a:path h="3914704" w="4120741">
                <a:moveTo>
                  <a:pt x="0" y="0"/>
                </a:moveTo>
                <a:lnTo>
                  <a:pt x="4120741" y="0"/>
                </a:lnTo>
                <a:lnTo>
                  <a:pt x="4120741" y="3914704"/>
                </a:lnTo>
                <a:lnTo>
                  <a:pt x="0" y="39147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76068" y="7636140"/>
            <a:ext cx="12870476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 application sends requests to read or modify data.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 DBMS validates security, processes the request, and executes the operation on the storage layer.</a:t>
            </a: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0615941" y="3106292"/>
            <a:ext cx="2286000" cy="857250"/>
            <a:chOff x="0" y="0"/>
            <a:chExt cx="1480428" cy="555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80428" cy="555160"/>
            </a:xfrm>
            <a:custGeom>
              <a:avLst/>
              <a:gdLst/>
              <a:ahLst/>
              <a:cxnLst/>
              <a:rect r="r" b="b" t="t" l="l"/>
              <a:pathLst>
                <a:path h="555160" w="1480428">
                  <a:moveTo>
                    <a:pt x="1480428" y="277580"/>
                  </a:moveTo>
                  <a:lnTo>
                    <a:pt x="1074028" y="0"/>
                  </a:lnTo>
                  <a:lnTo>
                    <a:pt x="1074028" y="203200"/>
                  </a:lnTo>
                  <a:lnTo>
                    <a:pt x="0" y="203200"/>
                  </a:lnTo>
                  <a:lnTo>
                    <a:pt x="0" y="351960"/>
                  </a:lnTo>
                  <a:lnTo>
                    <a:pt x="1074028" y="351960"/>
                  </a:lnTo>
                  <a:lnTo>
                    <a:pt x="1074028" y="555160"/>
                  </a:lnTo>
                  <a:lnTo>
                    <a:pt x="1480428" y="277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65100"/>
              <a:ext cx="1378828" cy="18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15941" y="4392167"/>
            <a:ext cx="2286000" cy="857250"/>
            <a:chOff x="0" y="0"/>
            <a:chExt cx="1155500" cy="4333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5500" cy="433312"/>
            </a:xfrm>
            <a:custGeom>
              <a:avLst/>
              <a:gdLst/>
              <a:ahLst/>
              <a:cxnLst/>
              <a:rect r="r" b="b" t="t" l="l"/>
              <a:pathLst>
                <a:path h="433312" w="1155500">
                  <a:moveTo>
                    <a:pt x="239386" y="165769"/>
                  </a:moveTo>
                  <a:lnTo>
                    <a:pt x="1155500" y="165769"/>
                  </a:lnTo>
                  <a:lnTo>
                    <a:pt x="1155500" y="267524"/>
                  </a:lnTo>
                  <a:lnTo>
                    <a:pt x="239373" y="267524"/>
                  </a:lnTo>
                  <a:lnTo>
                    <a:pt x="302255" y="433312"/>
                  </a:lnTo>
                  <a:lnTo>
                    <a:pt x="0" y="216656"/>
                  </a:lnTo>
                  <a:lnTo>
                    <a:pt x="302255" y="0"/>
                  </a:lnTo>
                  <a:lnTo>
                    <a:pt x="239386" y="16576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127000"/>
              <a:ext cx="1034850" cy="14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05309" y="6852070"/>
            <a:ext cx="2184321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Application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27838" y="6610695"/>
            <a:ext cx="298346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DBMS Software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22002" y="6595212"/>
            <a:ext cx="3388400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Database Storage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2723" y="890587"/>
            <a:ext cx="13562555" cy="51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0"/>
              </a:lnSpc>
            </a:pPr>
            <a:r>
              <a:rPr lang="en-US" b="true" sz="30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C.R.U.D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77938" y="5298579"/>
            <a:ext cx="16942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CREATE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37186" y="5298579"/>
            <a:ext cx="11830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5181" y="5298579"/>
            <a:ext cx="17287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UPDATE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9021" y="5298579"/>
            <a:ext cx="16424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DELETE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0119" y="75565"/>
            <a:ext cx="110745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TWO TYPES OF DATABASES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54229" y="1381760"/>
            <a:ext cx="8515476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Relational Database (SQL)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Organize data into one or more tables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Each table has columns and rows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unique key identifies each row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33504" y="1381760"/>
            <a:ext cx="8515476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Non-Relational Database (noSQL)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Organize data is anything but a traditional table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Key-value store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Documents (JSON, XML, etc)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Graphs</a:t>
            </a:r>
          </a:p>
          <a:p>
            <a:pPr algn="l" marL="2202174" indent="-550543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Flexible Tables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34288" y="7033445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16076" y="1815733"/>
          <a:ext cx="7452905" cy="7496175"/>
        </p:xfrm>
        <a:graphic>
          <a:graphicData uri="http://schemas.openxmlformats.org/drawingml/2006/table">
            <a:tbl>
              <a:tblPr/>
              <a:tblGrid>
                <a:gridCol w="2484302"/>
                <a:gridCol w="2484302"/>
                <a:gridCol w="2484302"/>
              </a:tblGrid>
              <a:tr h="19817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client_id (PK)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full_name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ssn_tax_id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Sarah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111-222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Marcus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333-444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Ellen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555-666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Rippley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777-888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860119" y="75565"/>
            <a:ext cx="110745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RELATIONAL DATABASE (SQL)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076" y="1225818"/>
            <a:ext cx="745290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Clients Table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290358" y="1815733"/>
          <a:ext cx="9369118" cy="7496175"/>
        </p:xfrm>
        <a:graphic>
          <a:graphicData uri="http://schemas.openxmlformats.org/drawingml/2006/table">
            <a:tbl>
              <a:tblPr/>
              <a:tblGrid>
                <a:gridCol w="3123039"/>
                <a:gridCol w="3123039"/>
                <a:gridCol w="3123039"/>
              </a:tblGrid>
              <a:tr h="19817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account_id (PK)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client_id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Anantason Bold"/>
                          <a:ea typeface="Anantason Bold"/>
                          <a:cs typeface="Anantason Bold"/>
                          <a:sym typeface="Anantason Bold"/>
                        </a:rPr>
                        <a:t>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5001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2500.50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5002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10400.00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5003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150.00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6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5004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Anantason"/>
                          <a:ea typeface="Anantason"/>
                          <a:cs typeface="Anantason"/>
                          <a:sym typeface="Anantason"/>
                        </a:rPr>
                        <a:t>21400.00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144000" y="1225818"/>
            <a:ext cx="851547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Bank Accounts Table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18971" y="434417"/>
            <a:ext cx="110745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THE SQL ECOSYSTEM &amp; RDBMS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494" y="1584670"/>
            <a:ext cx="17295391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RDBMS (Relational Database Management System):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Popular software: PostgreSQL, 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MySQL, Oracle, SQL Server, MariaDB.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SQL (Structured Query Language):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Standardized language used to communicate with an RDBMS.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Executes CRUD operations, manages permissions, and defines schema structures.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53311" y="6483007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7263" y="320308"/>
            <a:ext cx="1404102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NOSQL DATABASE MODELS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5079085" y="8033156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1"/>
                </a:moveTo>
                <a:lnTo>
                  <a:pt x="0" y="5998131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0516" y="1700212"/>
            <a:ext cx="4834655" cy="5726404"/>
          </a:xfrm>
          <a:custGeom>
            <a:avLst/>
            <a:gdLst/>
            <a:ahLst/>
            <a:cxnLst/>
            <a:rect r="r" b="b" t="t" l="l"/>
            <a:pathLst>
              <a:path h="5726404" w="4834655">
                <a:moveTo>
                  <a:pt x="0" y="0"/>
                </a:moveTo>
                <a:lnTo>
                  <a:pt x="4834655" y="0"/>
                </a:lnTo>
                <a:lnTo>
                  <a:pt x="4834655" y="5726405"/>
                </a:lnTo>
                <a:lnTo>
                  <a:pt x="0" y="5726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271" t="0" r="-42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22346" y="1700213"/>
            <a:ext cx="7487557" cy="5726404"/>
          </a:xfrm>
          <a:custGeom>
            <a:avLst/>
            <a:gdLst/>
            <a:ahLst/>
            <a:cxnLst/>
            <a:rect r="r" b="b" t="t" l="l"/>
            <a:pathLst>
              <a:path h="5726404" w="7487557">
                <a:moveTo>
                  <a:pt x="0" y="0"/>
                </a:moveTo>
                <a:lnTo>
                  <a:pt x="7487558" y="0"/>
                </a:lnTo>
                <a:lnTo>
                  <a:pt x="7487558" y="5726404"/>
                </a:lnTo>
                <a:lnTo>
                  <a:pt x="0" y="57264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26" t="0" r="-402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67079" y="1700213"/>
            <a:ext cx="4431333" cy="5726404"/>
          </a:xfrm>
          <a:custGeom>
            <a:avLst/>
            <a:gdLst/>
            <a:ahLst/>
            <a:cxnLst/>
            <a:rect r="r" b="b" t="t" l="l"/>
            <a:pathLst>
              <a:path h="5726404" w="4431333">
                <a:moveTo>
                  <a:pt x="0" y="0"/>
                </a:moveTo>
                <a:lnTo>
                  <a:pt x="4431333" y="0"/>
                </a:lnTo>
                <a:lnTo>
                  <a:pt x="4431333" y="5726404"/>
                </a:lnTo>
                <a:lnTo>
                  <a:pt x="0" y="5726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722" t="0" r="-6722" b="-498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7088" y="7645665"/>
            <a:ext cx="3466267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DOCUMENT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(JSON, XML, BLOB, ETC...)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05904" y="7645665"/>
            <a:ext cx="2876193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GRAPH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RELATIONAL NODES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67079" y="7645665"/>
            <a:ext cx="4301282" cy="185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KEY-VALUE HASH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KEYS ARE MAPPED TO VALUES (STRINGS, JSONS, BLOB, ETC...)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9639" y="348883"/>
            <a:ext cx="1408887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THE NOSQL ECOSYSTEM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90358" y="1417206"/>
            <a:ext cx="16038868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Popular NoSQL DBMS Platforms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MongoDB, DynamoDB, Redis, Cassandra, Firebase.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No Universa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 Standard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Each engine relies on its own custom query API or syntax.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Schema-less flexibility allows data structure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 to evolve without rigid migrations.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07966" y="314800"/>
            <a:ext cx="1163725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WHAT ARE DATABASE QUERIES?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672" y="1406365"/>
            <a:ext cx="12869548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Definition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formal request sent to a database system to retrieve or manipulate specific data.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omplexity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As databases grow and relationships multiply, queries require higher structural logic.</a:t>
            </a:r>
          </a:p>
          <a:p>
            <a:pPr algn="l">
              <a:lnSpc>
                <a:spcPts val="4759"/>
              </a:lnSpc>
            </a:pP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eal-world Analogy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Running a Google search or applying filters on an online banking dashboard are examples of queries.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1540" y="61722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54313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2561961" y="-4193575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6" y="0"/>
                </a:lnTo>
                <a:lnTo>
                  <a:pt x="5987226" y="5998132"/>
                </a:lnTo>
                <a:lnTo>
                  <a:pt x="0" y="5998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0119" y="314800"/>
            <a:ext cx="110745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WRAP UP 🎁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91735"/>
            <a:ext cx="16410222" cy="719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Database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Any organized collection of related information.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DBMS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Software that creates, manages, and secures databases.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CRUD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Create, Read, Update, Delete operations.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Relational (SQL)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Organizes data into tables with primary/foreign key relationships.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Non-Relational (NoSQL)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Stores data using alternative structures (Documents, Key-Value, Graphs).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Queries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Instructions used to retrieve and manipulate stored data.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DAHTPXr3fyc</dc:identifier>
  <dcterms:modified xsi:type="dcterms:W3CDTF">2011-08-01T06:04:30Z</dcterms:modified>
  <cp:revision>1</cp:revision>
  <dc:title>Blue Modern Futuristic Presentation</dc:title>
</cp:coreProperties>
</file>